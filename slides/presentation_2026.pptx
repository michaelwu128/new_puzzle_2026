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478C"/>
                </a:solidFill>
                <a:latin typeface="Microsoft JhengHei"/>
              </a:rPr>
              <a:t>AI 協助加速求解 12×12 十一塊拼圖</a:t>
            </a:r>
          </a:p>
          <a:p>
            <a:pPr algn="ctr"/>
            <a:r>
              <a:rPr sz="3200" b="1">
                <a:solidFill>
                  <a:srgbClr val="1A478C"/>
                </a:solidFill>
                <a:latin typeface="Microsoft JhengHei"/>
              </a:rPr>
              <a:t>Formal Dead-Pocket → Learned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222222"/>
                </a:solidFill>
                <a:latin typeface="Microsoft JhengHei"/>
              </a:rPr>
              <a:t>吳展宇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問題與目標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12×12 棋盤、11 塊六格拼圖；規則：no-touch（8-鄰不接觸）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已知一個合法解 → 找 D4 互異的其他解（旋轉／鏡射視為同一解）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工具：SAT 編碼（CNF）+ Kissat；瓶頸在 CNF 規模與預處理時間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Formal 方法（公平剪枝）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baseline：全 placement + no-touch + 對稱破（piece 0 上半）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shape：邊角 margin 內二元 dead-pocket 子句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shape′：全盤二元 dead-pocket（v1/v2 上與 shape 同 CNF）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shape″：singleton 刪除 + 三元 dead-pocket（預處理最慢）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（早期 soft 剪枝因依賴已知解結構，已不採用）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實驗設定（Formal 主實驗）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拼圖 v1、v2；全放置（無 soft prune）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先封鎖已知解 D4 對稱（8 條 blocking）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Kissat seed=1..10，各找 1 個新 SAT 解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指標：求解平均時間；CNF 產生時間另列（一次性成本）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0"/>
            <a:ext cx="8138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Microsoft JhengHei"/>
              </a:rPr>
              <a:t>腳本：encoding/run_d4_next_sol_seeds.py｜詳見 baselines/d4_next_sol_seeds/SUMMARY.md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Formal 成果：D4 下一解求解時間（秒）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v1 平均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v1 vs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v2 平均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v2 vs baseline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27.88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1.00×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11.35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1.00×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12.66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2.20×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6.63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1.71×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shape′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14.37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1.94×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6.67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1.70×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shape″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32.14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0.87×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1.09×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Microsoft JhengHei"/>
              </a:rPr>
              <a:t>vs baseline = baseline 平均 ÷ 該方法平均（&gt;1 較快）。shape 標準差最小、最穩。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Formal 瓶頸：CNF 規模與產生耗時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v1 CNF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v2 CNF (s)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備註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35.8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21.9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僅基本子句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1128 (~19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726 (~12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+147~188 萬二元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shape′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1120 (~19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724 (~12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與 shape 同 CNF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shape″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4040 (~67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2348 (~39 min)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+三元；singleton 刪 256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Microsoft JhengHei"/>
              </a:rPr>
              <a:t>若只解 1 題：v2 baseline 總成本 ~22+11≈33s；shape ~726+7≈733s → full formal 不 practical。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Learned Dead-Pocket + Cascade（sound pipeline）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pair → L0 heur（保留 top 40%）→ ML ranker → 僅 oracle top-25% pair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formal has_dead_pocket? 為 True 才加子句 ¬pi∨¬pj（never UNSOUND）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North star：新拼圖 + @25% oracle budget → SAT 接近 full shape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ML 實驗設計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LightGBM ranker（v2 幾何特徵）；合訓 v1–v5 → eval v6 hold-out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部署：L0 cascade（0.4）+ @25% oracle budget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主 KPI：cascade @25% clause recall + D4 下一解 10 seed SAT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P0 目標：@25% recall ≥99%（目前 ~34%，尚未達標）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ML 結果（hold-out）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84124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拼圖 / 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cascade @25%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D4 SAT vs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A478C"/>
                          </a:solidFill>
                          <a:latin typeface="Microsoft JhengHei"/>
                        </a:rPr>
                        <a:t>解讀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v4（v123）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34.7%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慢於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recall 穩定 ~34%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v5（v123）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34.2%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≈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SAT 接近 full shape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v6（v123）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33.8%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慢於 shape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build 快但 SAT 無優勢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v6（v12345）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33.0%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31.2s ≈ 32.3s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Microsoft JhengHei"/>
                        </a:rPr>
                        <a:t>合訓 v4/v5 後 D4 SAT 達標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Microsoft JhengHei"/>
              </a:rPr>
              <a:t>v6 為真正 hold-out（未納入 v12345 訓練）。枚舉 KPI 與 D4 下一解結論可能不同。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478C"/>
                </a:solidFill>
                <a:latin typeface="Microsoft JhengHei"/>
              </a:rPr>
              <a:t>Takeaway 與下一步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Formal shape 解題快（v2 約 1.7×），但 full oracle 預處理需 12–19 分鐘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Learned + cascade：sound pipeline；@25% recall ~34% 仍遠低 north star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亮點：v6 hold-out 上 v12345 的 D4 下一解已接近 full shape（31.2 vs 32.3 s）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Microsoft JhengHei"/>
              </a:rPr>
              <a:t>• 下一步：提高 recall；break-even 實驗（含 build 累積時間何時贏 baseline）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0"/>
            <a:ext cx="8138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Microsoft JhengHei"/>
              </a:rPr>
              <a:t>報告約 10 分鐘｜求解器：Kissat｜專案：new_puzzle_2026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